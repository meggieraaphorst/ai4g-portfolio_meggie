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184B335-39D6-A764-4BBF-A9361E6BAF4B}">
          <p14:sldIdLst>
            <p14:sldId id="256"/>
          </p14:sldIdLst>
        </p14:section>
        <p14:section name="Problem" id="{965191AA-E9EE-5685-C2BA-4C352AD4876A}">
          <p14:sldIdLst>
            <p14:sldId id="257"/>
          </p14:sldIdLst>
        </p14:section>
        <p14:section name="User" id="{55633FF3-6E54-E0E3-F5FA-9012E6B92D18}">
          <p14:sldIdLst>
            <p14:sldId id="258"/>
          </p14:sldIdLst>
        </p14:section>
        <p14:section name="App" id="{35D33B61-468C-7A6D-9EB2-51A02B697349}">
          <p14:sldIdLst>
            <p14:sldId id="259"/>
          </p14:sldIdLst>
        </p14:section>
        <p14:section name="Build" id="{6388524A-4CE9-DA57-2C45-220A9BE68A7A}">
          <p14:sldIdLst>
            <p14:sldId id="260"/>
          </p14:sldIdLst>
        </p14:section>
        <p14:section name="Learned" id="{0B052572-0665-B46F-1FBE-30510636C77D}">
          <p14:sldIdLst>
            <p14:sldId id="261"/>
          </p14:sldIdLst>
        </p14:section>
        <p14:section name="Risks" id="{44465CA9-6ED0-70E8-38A4-69E0C3DE6D7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12F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7312F"/>
                </a:solidFill>
                <a:latin typeface="+mn-lt"/>
              </a:rPr>
              <a:t>mAP@50 per species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v1: own videos only</c:v>
                </c:pt>
              </c:strCache>
            </c:strRef>
          </c:tx>
          <c:spPr>
            <a:solidFill>
              <a:srgbClr val="9DB3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31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Coot</c:v>
                </c:pt>
                <c:pt idx="1">
                  <c:v>Mallard</c:v>
                </c:pt>
                <c:pt idx="2">
                  <c:v>Egyptian goose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92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A4-EB4B-B90D-34DC3A588E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v2: + targeted scraped photos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31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Coot</c:v>
                </c:pt>
                <c:pt idx="1">
                  <c:v>Mallard</c:v>
                </c:pt>
                <c:pt idx="2">
                  <c:v>Egyptian goose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94</c:v>
                </c:pt>
                <c:pt idx="2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A4-EB4B-B90D-34DC3A588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1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A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F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31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47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we built the Waterbird Counter: count ducks, coots and geese from one photo, for SDG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ck circle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du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712775"/>
            <a:ext cx="357530" cy="35753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Waterbird Counter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Count mallards, coots and Egyptian geese from a single photo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SDG 15: Life on Land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Yazan Nemo &amp; Meggie Raaphorst| AI for Good, Hackathon 7, Roboflow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is declining, and freshwater fastest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280160"/>
            <a:ext cx="2514600" cy="23774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decline of monitored wildlife populations, 1970 to 2020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280160"/>
            <a:ext cx="2514600" cy="23774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20440" y="1417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606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decline in freshwater populations, the steepest of all habitats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35040" y="1280160"/>
            <a:ext cx="2514600" cy="23774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63640" y="1417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606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decline in Europe and Central Asia, so this is our problem too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Population declines are an early warning for ecosystems. But you can only see a decline if you count reliably, again and again.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WWF Living Planet Report 2024 (Living Planet Index, ZSL)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waterbirds is still done by eye</a:t>
            </a:r>
            <a:endParaRPr lang="en-US" sz="3200" dirty="0"/>
          </a:p>
        </p:txBody>
      </p:sp>
      <p:sp>
        <p:nvSpPr>
          <p:cNvPr id="3" name="user card"/>
          <p:cNvSpPr/>
          <p:nvPr/>
        </p:nvSpPr>
        <p:spPr>
          <a:xfrm>
            <a:off x="548640" y="1234440"/>
            <a:ext cx="3749040" cy="33375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users circle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us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16358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Our user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Volunteer waterbird counters, like the thousands who count for Sovon Vogelonderzoek Nederland. Their counts feed national bird trends.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~250,000</a:t>
            </a:r>
            <a:r>
              <a:rPr lang="en-US" sz="1400" dirty="0">
                <a:solidFill>
                  <a:schemeClr val="bg1"/>
                </a:solidFill>
              </a:rPr>
              <a:t>  mallard pairs in NL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~22,000</a:t>
            </a:r>
            <a:r>
              <a:rPr lang="en-US" sz="1400" dirty="0">
                <a:solidFill>
                  <a:schemeClr val="bg1"/>
                </a:solidFill>
              </a:rPr>
              <a:t>  Egyptian goose pairs, exotic</a:t>
            </a:r>
            <a:endParaRPr lang="en-US" sz="2000" dirty="0"/>
          </a:p>
        </p:txBody>
      </p:sp>
      <p:sp>
        <p:nvSpPr>
          <p:cNvPr id="9" name="pain 1 circle"/>
          <p:cNvSpPr/>
          <p:nvPr/>
        </p:nvSpPr>
        <p:spPr>
          <a:xfrm>
            <a:off x="4663440" y="12344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ai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917" y="139491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234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Big flocks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156362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Counting 40 birds on moving water by eye is slow and error-prone.</a:t>
            </a:r>
            <a:endParaRPr lang="en-US" sz="1400" dirty="0"/>
          </a:p>
        </p:txBody>
      </p:sp>
      <p:sp>
        <p:nvSpPr>
          <p:cNvPr id="13" name="pain 2 circle"/>
          <p:cNvSpPr/>
          <p:nvPr/>
        </p:nvSpPr>
        <p:spPr>
          <a:xfrm>
            <a:off x="4663440" y="23774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ain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917" y="2537917"/>
            <a:ext cx="273406" cy="2734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counting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440680" y="270662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Birds swim, dive and fly between spots during the count.</a:t>
            </a:r>
            <a:endParaRPr lang="en-US" sz="1400" dirty="0"/>
          </a:p>
        </p:txBody>
      </p:sp>
      <p:sp>
        <p:nvSpPr>
          <p:cNvPr id="17" name="pain 3 circle"/>
          <p:cNvSpPr/>
          <p:nvPr/>
        </p:nvSpPr>
        <p:spPr>
          <a:xfrm>
            <a:off x="4663440" y="35204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pain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917" y="3680917"/>
            <a:ext cx="273406" cy="2734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0680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Exotic species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440680" y="384962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Egyptian goose first bred near Den Haag in 1967 and is now everywhere. It needs watching.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Sources: Sovon, Verschenen of verdwenen; De Levende Natuur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 in, a count per species out</a:t>
            </a:r>
            <a:endParaRPr lang="en-US" sz="3200" dirty="0"/>
          </a:p>
        </p:txBody>
      </p:sp>
      <p:sp>
        <p:nvSpPr>
          <p:cNvPr id="3" name="step 1 circle"/>
          <p:cNvSpPr/>
          <p:nvPr/>
        </p:nvSpPr>
        <p:spPr>
          <a:xfrm>
            <a:off x="822960" y="1325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Upload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 photo of a pond or canal</a:t>
            </a:r>
            <a:endParaRPr lang="en-US" sz="1300" dirty="0"/>
          </a:p>
        </p:txBody>
      </p:sp>
      <p:sp>
        <p:nvSpPr>
          <p:cNvPr id="7" name="arrow 1"/>
          <p:cNvSpPr/>
          <p:nvPr/>
        </p:nvSpPr>
        <p:spPr>
          <a:xfrm>
            <a:off x="1737360" y="1581912"/>
            <a:ext cx="274320" cy="22860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ep 2 circle"/>
          <p:cNvSpPr/>
          <p:nvPr/>
        </p:nvSpPr>
        <p:spPr>
          <a:xfrm>
            <a:off x="2240280" y="1325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790" y="1523390"/>
            <a:ext cx="336499" cy="3364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6596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96596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 box around every bird</a:t>
            </a:r>
            <a:endParaRPr lang="en-US" sz="1300" dirty="0"/>
          </a:p>
        </p:txBody>
      </p:sp>
      <p:sp>
        <p:nvSpPr>
          <p:cNvPr id="12" name="arrow 2"/>
          <p:cNvSpPr/>
          <p:nvPr/>
        </p:nvSpPr>
        <p:spPr>
          <a:xfrm>
            <a:off x="3154680" y="1581912"/>
            <a:ext cx="274320" cy="22860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tep 3 circle"/>
          <p:cNvSpPr/>
          <p:nvPr/>
        </p:nvSpPr>
        <p:spPr>
          <a:xfrm>
            <a:off x="365760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110" y="152339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8328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38328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per species, exotic geese flagged</a:t>
            </a:r>
            <a:endParaRPr lang="en-US" sz="1300" dirty="0"/>
          </a:p>
        </p:txBody>
      </p:sp>
      <p:sp>
        <p:nvSpPr>
          <p:cNvPr id="17" name="arrow 3"/>
          <p:cNvSpPr/>
          <p:nvPr/>
        </p:nvSpPr>
        <p:spPr>
          <a:xfrm>
            <a:off x="4572000" y="1581912"/>
            <a:ext cx="274320" cy="22860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tep 4 circle"/>
          <p:cNvSpPr/>
          <p:nvPr/>
        </p:nvSpPr>
        <p:spPr>
          <a:xfrm>
            <a:off x="5074920" y="1325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430" y="1523390"/>
            <a:ext cx="336499" cy="33649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0060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Log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480060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per location, export as CSV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35204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From counting by eye to counting in seconds, with the volunteer checking the result.</a:t>
            </a:r>
            <a:endParaRPr lang="en-US" sz="1500" dirty="0"/>
          </a:p>
        </p:txBody>
      </p:sp>
      <p:sp>
        <p:nvSpPr>
          <p:cNvPr id="23" name="demo panel"/>
          <p:cNvSpPr/>
          <p:nvPr/>
        </p:nvSpPr>
        <p:spPr>
          <a:xfrm>
            <a:off x="6355080" y="1234440"/>
            <a:ext cx="2240280" cy="3200400"/>
          </a:xfrm>
          <a:prstGeom prst="roundRect">
            <a:avLst>
              <a:gd name="adj" fmla="val 612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play circle"/>
          <p:cNvSpPr/>
          <p:nvPr/>
        </p:nvSpPr>
        <p:spPr>
          <a:xfrm>
            <a:off x="6995160" y="160020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lay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4392" y="1859432"/>
            <a:ext cx="441655" cy="44165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4652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653796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Streamlit app on our Roboflow model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our own footage from Dutch ponds</a:t>
            </a:r>
            <a:endParaRPr lang="en-US" sz="3200" dirty="0"/>
          </a:p>
        </p:txBody>
      </p:sp>
      <p:sp>
        <p:nvSpPr>
          <p:cNvPr id="3" name="pipe 1 circle"/>
          <p:cNvSpPr/>
          <p:nvPr/>
        </p:nvSpPr>
        <p:spPr>
          <a:xfrm>
            <a:off x="548640" y="1188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pip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" y="1349197"/>
            <a:ext cx="273406" cy="2734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070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1207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videos at city ponds, 80 seconds total</a:t>
            </a:r>
            <a:endParaRPr lang="en-US" sz="1400" dirty="0"/>
          </a:p>
        </p:txBody>
      </p:sp>
      <p:sp>
        <p:nvSpPr>
          <p:cNvPr id="7" name="pipe 2 circle"/>
          <p:cNvSpPr/>
          <p:nvPr/>
        </p:nvSpPr>
        <p:spPr>
          <a:xfrm>
            <a:off x="548640" y="20574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p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" y="2217877"/>
            <a:ext cx="273406" cy="2734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075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Label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233172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~320 frames + ~40 scraped photos, 3 classes by hand</a:t>
            </a:r>
            <a:endParaRPr lang="en-US" sz="1400" dirty="0"/>
          </a:p>
        </p:txBody>
      </p:sp>
      <p:sp>
        <p:nvSpPr>
          <p:cNvPr id="11" name="pipe 3 circle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p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" y="3086557"/>
            <a:ext cx="273406" cy="27340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443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Train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331720" y="2944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Roboflow RF-DETR Small, split 70/20/10</a:t>
            </a:r>
            <a:endParaRPr lang="en-US" sz="1400" dirty="0"/>
          </a:p>
        </p:txBody>
      </p:sp>
      <p:sp>
        <p:nvSpPr>
          <p:cNvPr id="15" name="pipe 4 circle"/>
          <p:cNvSpPr/>
          <p:nvPr/>
        </p:nvSpPr>
        <p:spPr>
          <a:xfrm>
            <a:off x="548640" y="379476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pip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7" y="3955237"/>
            <a:ext cx="273406" cy="27340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130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Wrap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2331720" y="3813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Streamlit app calls the model via the API</a:t>
            </a:r>
            <a:endParaRPr lang="en-US" sz="1400" dirty="0"/>
          </a:p>
        </p:txBody>
      </p:sp>
      <p:sp>
        <p:nvSpPr>
          <p:cNvPr id="19" name="build stat 1"/>
          <p:cNvSpPr/>
          <p:nvPr/>
        </p:nvSpPr>
        <p:spPr>
          <a:xfrm>
            <a:off x="5806440" y="1188720"/>
            <a:ext cx="2788920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594360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5"/>
          <p:cNvSpPr txBox="1"/>
          <p:nvPr/>
        </p:nvSpPr>
        <p:spPr>
          <a:xfrm>
            <a:off x="7178040" y="1188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species: mallard, coot, Egyptian goose</a:t>
            </a:r>
            <a:endParaRPr lang="en-US" sz="1300" dirty="0"/>
          </a:p>
        </p:txBody>
      </p:sp>
      <p:sp>
        <p:nvSpPr>
          <p:cNvPr id="22" name="build stat 2"/>
          <p:cNvSpPr/>
          <p:nvPr/>
        </p:nvSpPr>
        <p:spPr>
          <a:xfrm>
            <a:off x="5806440" y="2331720"/>
            <a:ext cx="2788920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5943600" y="2331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~360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7178040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labelled images</a:t>
            </a:r>
            <a:endParaRPr lang="en-US" sz="1300" dirty="0"/>
          </a:p>
        </p:txBody>
      </p:sp>
      <p:sp>
        <p:nvSpPr>
          <p:cNvPr id="25" name="build stat 3"/>
          <p:cNvSpPr/>
          <p:nvPr/>
        </p:nvSpPr>
        <p:spPr>
          <a:xfrm>
            <a:off x="5806440" y="3474720"/>
            <a:ext cx="2788920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5943600" y="3474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90.8%</a:t>
            </a:r>
            <a:endParaRPr lang="en-US" sz="3000" dirty="0"/>
          </a:p>
        </p:txBody>
      </p:sp>
      <p:sp>
        <p:nvSpPr>
          <p:cNvPr id="27" name="Text 21"/>
          <p:cNvSpPr txBox="1"/>
          <p:nvPr/>
        </p:nvSpPr>
        <p:spPr>
          <a:xfrm>
            <a:off x="7178040" y="3474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mAP@50 on the test set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on paper, wrong on new photos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43000"/>
          <a:ext cx="4937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5179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model classified pictures of mallards and coots from the internet incorrectly . Frames from the same 4 videos sat in training and test data, so the score was too optimistic.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fix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9352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We added ~40 targeted photos of coots and mallards and retrained.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result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389534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Coot went from 65% to 81%, and the internet photos were now classified right.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counts, the human decides</a:t>
            </a:r>
            <a:endParaRPr lang="en-US" sz="3200" dirty="0"/>
          </a:p>
        </p:txBody>
      </p:sp>
      <p:sp>
        <p:nvSpPr>
          <p:cNvPr id="3" name="risk 1 circle"/>
          <p:cNvSpPr/>
          <p:nvPr/>
        </p:nvSpPr>
        <p:spPr>
          <a:xfrm>
            <a:off x="548640" y="1234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risk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1407262"/>
            <a:ext cx="294437" cy="2944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False trends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9572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Undercounting coots could make a stable population look like it is declining, and send money to the wrong place.</a:t>
            </a:r>
            <a:endParaRPr lang="en-US" sz="1400" dirty="0"/>
          </a:p>
        </p:txBody>
      </p:sp>
      <p:sp>
        <p:nvSpPr>
          <p:cNvPr id="7" name="risk 2 circle"/>
          <p:cNvSpPr/>
          <p:nvPr/>
        </p:nvSpPr>
        <p:spPr>
          <a:xfrm>
            <a:off x="3291840" y="1234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risk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662" y="140726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Wrong target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239572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false Egyptian goose detection could support control measures against birds that were never there.</a:t>
            </a:r>
            <a:endParaRPr lang="en-US" sz="1400" dirty="0"/>
          </a:p>
        </p:txBody>
      </p:sp>
      <p:sp>
        <p:nvSpPr>
          <p:cNvPr id="11" name="risk 3 circle"/>
          <p:cNvSpPr/>
          <p:nvPr/>
        </p:nvSpPr>
        <p:spPr>
          <a:xfrm>
            <a:off x="6035040" y="1234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risk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862" y="140726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People in photos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239572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Park photos can show people, so the app stores counts only, never images.</a:t>
            </a:r>
            <a:endParaRPr lang="en-US" sz="1400" dirty="0"/>
          </a:p>
        </p:txBody>
      </p:sp>
      <p:sp>
        <p:nvSpPr>
          <p:cNvPr id="15" name="accountability bar"/>
          <p:cNvSpPr/>
          <p:nvPr/>
        </p:nvSpPr>
        <p:spPr>
          <a:xfrm>
            <a:off x="548640" y="3794760"/>
            <a:ext cx="804672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check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5935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37947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Limitations are shown in the app. The volunteer checks every count before reporting it, so faster counts become reliable data for SDG 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nd">
  <a:themeElements>
    <a:clrScheme name="Pond">
      <a:dk1>
        <a:srgbClr val="17312F"/>
      </a:dk1>
      <a:lt1>
        <a:srgbClr val="FFFFFF"/>
      </a:lt1>
      <a:dk2>
        <a:srgbClr val="2F5D50"/>
      </a:dk2>
      <a:lt2>
        <a:srgbClr val="EEF3EF"/>
      </a:lt2>
      <a:accent1>
        <a:srgbClr val="E07A1F"/>
      </a:accent1>
      <a:accent2>
        <a:srgbClr val="2E7D32"/>
      </a:accent2>
      <a:accent3>
        <a:srgbClr val="1565C0"/>
      </a:accent3>
      <a:accent4>
        <a:srgbClr val="8DA865"/>
      </a:accent4>
      <a:accent5>
        <a:srgbClr val="5F7F7A"/>
      </a:accent5>
      <a:accent6>
        <a:srgbClr val="C9D8D2"/>
      </a:accent6>
      <a:hlink>
        <a:srgbClr val="1565C0"/>
      </a:hlink>
      <a:folHlink>
        <a:srgbClr val="5F7F7A"/>
      </a:folHlink>
    </a:clrScheme>
    <a:fontScheme name="Po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564</Words>
  <Application>Microsoft Macintosh PowerPoint</Application>
  <PresentationFormat>On-screen Show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Pond</vt:lpstr>
      <vt:lpstr>Waterbird Counter</vt:lpstr>
      <vt:lpstr>Wildlife is declining, and freshwater fastest</vt:lpstr>
      <vt:lpstr>Counting waterbirds is still done by eye</vt:lpstr>
      <vt:lpstr>One photo in, a count per species out</vt:lpstr>
      <vt:lpstr>Built on our own footage from Dutch ponds</vt:lpstr>
      <vt:lpstr>90% on paper, wrong on new photos</vt:lpstr>
      <vt:lpstr>The model counts, the human decides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Waterbird Counter</dc:title>
  <dc:subject>PptxGenJS Presentation</dc:subject>
  <dc:creator>Yazan Nemo</dc:creator>
  <cp:lastModifiedBy>Yazan Nemo (21097267)</cp:lastModifiedBy>
  <cp:revision>2</cp:revision>
  <dcterms:created xsi:type="dcterms:W3CDTF">2026-10-29T16:47:24Z</dcterms:created>
  <dcterms:modified xsi:type="dcterms:W3CDTF">2026-10-29T21:38:18Z</dcterms:modified>
</cp:coreProperties>
</file>